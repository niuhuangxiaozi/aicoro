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67" d="100"/>
          <a:sy n="67" d="100"/>
        </p:scale>
        <p:origin x="102" y="4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3/16/2018</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EBAD408D-CD41-468D-B127-3485E79E98E4}"/>
              </a:ext>
            </a:extLst>
          </p:cNvPr>
          <p:cNvSpPr>
            <a:spLocks noGrp="1"/>
          </p:cNvSpPr>
          <p:nvPr>
            <p:ph type="ctrTitle"/>
          </p:nvPr>
        </p:nvSpPr>
        <p:spPr/>
        <p:txBody>
          <a:bodyPr/>
          <a:lstStyle>
            <a:lvl1pPr>
              <a:defRPr/>
            </a:lvl1pPr>
          </a:lstStyle>
          <a:p>
            <a:pPr>
              <a:defRPr/>
            </a:pPr>
            <a:r>
              <a:rPr lang="en-IN"/>
              <a:t>南京德基广场文化综合体</a:t>
            </a:r>
            <a:endParaRPr lang="en-IN" dirty="0"/>
          </a:p>
        </p:txBody>
      </p:sp>
      <p:sp>
        <p:nvSpPr>
          <p:cNvPr id="3" name="Subtitle 2">
            <a:extLst>
              <a:ext uri="{FF2B5EF4-FFF2-40B4-BE49-F238E27FC236}">
                <a16:creationId xmlns:a16="http://schemas.microsoft.com/office/drawing/2014/main" id="{145F6AD7-357B-4E96-B74A-2D5F03226A42}"/>
              </a:ext>
            </a:extLst>
          </p:cNvPr>
          <p:cNvSpPr>
            <a:spLocks noGrp="1"/>
          </p:cNvSpPr>
          <p:nvPr>
            <p:ph type="subTitle" idx="1"/>
          </p:nvPr>
        </p:nvSpPr>
        <p:spPr>
          <a:xfrm>
            <a:off x="1507067" y="4050833"/>
            <a:ext cx="7766936" cy="1412707"/>
          </a:xfrm>
        </p:spPr>
        <p:txBody>
          <a:bodyPr>
            <a:normAutofit/>
          </a:bodyPr>
          <a:lstStyle>
            <a:lvl1pPr>
              <a:defRPr/>
            </a:lvl1pPr>
          </a:lstStyle>
          <a:p>
            <a:pPr>
              <a:defRPr/>
            </a:pPr>
            <a:r>
              <a:rPr lang="en-IN" sz="2400" dirty="0">
                <a:solidFill>
                  <a:schemeClr val="accent1">
                    <a:lumMod val="60000"/>
                    <a:lumOff val="40000"/>
                  </a:schemeClr>
                </a:solidFill>
              </a:rPr>
              <a:t>探索南京的文化心脏：德基广场的多元魅力</a:t>
            </a:r>
          </a:p>
          <a:p>
            <a:pPr>
              <a:defRPr/>
            </a:pPr>
            <a:r>
              <a:rPr lang="en-IN" sz="2000" dirty="0">
                <a:solidFill>
                  <a:schemeClr val="accent1">
                    <a:lumMod val="60000"/>
                    <a:lumOff val="40000"/>
                  </a:schemeClr>
                </a:solidFill>
              </a:rPr>
              <a:t>2025年11月23日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7C8510CC-2D9C-4AE5-A4E9-0FE369EB394C}"/>
              </a:ext>
            </a:extLst>
          </p:cNvPr>
          <p:cNvSpPr>
            <a:spLocks noGrp="1"/>
          </p:cNvSpPr>
          <p:nvPr>
            <p:ph type="title"/>
          </p:nvPr>
        </p:nvSpPr>
        <p:spPr>
          <a:xfrm>
            <a:off x="677334" y="106680"/>
            <a:ext cx="8596668" cy="1320800"/>
          </a:xfrm>
        </p:spPr>
        <p:txBody>
          <a:bodyPr/>
          <a:lstStyle>
            <a:lvl1pPr>
              <a:defRPr/>
            </a:lvl1pPr>
          </a:lstStyle>
          <a:p>
            <a:pPr>
              <a:defRPr/>
            </a:pPr>
            <a:r>
              <a:rPr lang="en-IN" dirty="0"/>
              <a:t>目录</a:t>
            </a:r>
          </a:p>
        </p:txBody>
      </p:sp>
      <p:sp>
        <p:nvSpPr>
          <p:cNvPr id="3" name="Content Placeholder 2">
            <a:extLst>
              <a:ext uri="{FF2B5EF4-FFF2-40B4-BE49-F238E27FC236}">
                <a16:creationId xmlns:a16="http://schemas.microsoft.com/office/drawing/2014/main" id="{B08168F9-DBFD-422A-918C-F44607DF0B12}"/>
              </a:ext>
            </a:extLst>
          </p:cNvPr>
          <p:cNvSpPr>
            <a:spLocks noGrp="1"/>
          </p:cNvSpPr>
          <p:nvPr>
            <p:ph idx="1"/>
          </p:nvPr>
        </p:nvSpPr>
        <p:spPr>
          <a:xfrm>
            <a:off x="677334" y="1132840"/>
            <a:ext cx="8596668" cy="5382260"/>
          </a:xfrm>
        </p:spPr>
        <p:txBody>
          <a:bodyPr>
            <a:noAutofit/>
          </a:bodyPr>
          <a:lstStyle>
            <a:lvl1pPr>
              <a:defRPr/>
            </a:lvl1pPr>
          </a:lstStyle>
          <a:p>
            <a:pPr marL="0" indent="0">
              <a:buNone/>
              <a:defRPr/>
            </a:pPr>
            <a:r>
              <a:rPr lang="en-IN" sz="2400" dirty="0" err="1">
                <a:solidFill>
                  <a:schemeClr val="accent1">
                    <a:lumMod val="60000"/>
                    <a:lumOff val="40000"/>
                  </a:schemeClr>
                </a:solidFill>
              </a:rPr>
              <a:t>介绍</a:t>
            </a:r>
          </a:p>
          <a:p>
            <a:pPr>
              <a:defRPr/>
            </a:pPr>
            <a:r>
              <a:rPr lang="en-IN" sz="2400" dirty="0">
                <a:solidFill>
                  <a:schemeClr val="accent1">
                    <a:lumMod val="60000"/>
                    <a:lumOff val="40000"/>
                  </a:schemeClr>
                </a:solidFill>
              </a:rPr>
              <a:t>文化与历史亮点</a:t>
            </a:r>
          </a:p>
          <a:p>
            <a:pPr>
              <a:defRPr/>
            </a:pPr>
            <a:r>
              <a:rPr lang="en-IN" sz="2400" dirty="0">
                <a:solidFill>
                  <a:schemeClr val="accent1">
                    <a:lumMod val="60000"/>
                    <a:lumOff val="40000"/>
                  </a:schemeClr>
                </a:solidFill>
              </a:rPr>
              <a:t>scenic attractions</a:t>
            </a:r>
          </a:p>
          <a:p>
            <a:pPr>
              <a:defRPr/>
            </a:pPr>
            <a:r>
              <a:rPr lang="en-IN" sz="2400" dirty="0">
                <a:solidFill>
                  <a:schemeClr val="accent1">
                    <a:lumMod val="60000"/>
                    <a:lumOff val="40000"/>
                  </a:schemeClr>
                </a:solidFill>
              </a:rPr>
              <a:t>Deji Plaza 文化综合体</a:t>
            </a:r>
          </a:p>
          <a:p>
            <a:pPr>
              <a:defRPr/>
            </a:pPr>
            <a:r>
              <a:rPr lang="en-IN" sz="2400" dirty="0">
                <a:solidFill>
                  <a:schemeClr val="accent1">
                    <a:lumMod val="60000"/>
                    <a:lumOff val="40000"/>
                  </a:schemeClr>
                </a:solidFill>
              </a:rPr>
              <a:t>南京博物馆与南京大屠杀遇难者纪念馆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CDCB7AA3-FD29-466B-96D4-982514CF08F3}"/>
              </a:ext>
            </a:extLst>
          </p:cNvPr>
          <p:cNvSpPr>
            <a:spLocks noGrp="1"/>
          </p:cNvSpPr>
          <p:nvPr>
            <p:ph type="title"/>
          </p:nvPr>
        </p:nvSpPr>
        <p:spPr>
          <a:xfrm>
            <a:off x="677334" y="156237"/>
            <a:ext cx="8596668" cy="1320800"/>
          </a:xfrm>
        </p:spPr>
        <p:txBody>
          <a:bodyPr/>
          <a:lstStyle>
            <a:lvl1pPr>
              <a:defRPr/>
            </a:lvl1pPr>
          </a:lstStyle>
          <a:p>
            <a:pPr>
              <a:defRPr/>
            </a:pPr>
            <a:r>
              <a:rPr lang="en-IN" dirty="0"/>
              <a:t>德基广场介绍</a:t>
            </a:r>
          </a:p>
        </p:txBody>
      </p:sp>
      <p:sp>
        <p:nvSpPr>
          <p:cNvPr id="3" name="Content Placeholder 2">
            <a:extLst>
              <a:ext uri="{FF2B5EF4-FFF2-40B4-BE49-F238E27FC236}">
                <a16:creationId xmlns:a16="http://schemas.microsoft.com/office/drawing/2014/main" id="{C4C7C2B0-A19F-4C53-8E70-945E0E07BDD7}"/>
              </a:ext>
            </a:extLst>
          </p:cNvPr>
          <p:cNvSpPr>
            <a:spLocks noGrp="1"/>
          </p:cNvSpPr>
          <p:nvPr>
            <p:ph idx="1"/>
          </p:nvPr>
        </p:nvSpPr>
        <p:spPr>
          <a:xfrm>
            <a:off x="677334" y="1245871"/>
            <a:ext cx="8596668" cy="4795492"/>
          </a:xfrm>
        </p:spPr>
        <p:txBody>
          <a:bodyPr>
            <a:normAutofit/>
          </a:bodyPr>
          <a:lstStyle>
            <a:lvl1pPr>
              <a:defRPr/>
            </a:lvl1pPr>
          </a:lstStyle>
          <a:p>
            <a:pPr marL="0" indent="0">
              <a:buNone/>
              <a:defRPr/>
            </a:pPr>
            <a:r>
              <a:rPr lang="en-IN" sz="2000" dirty="0">
                <a:solidFill>
                  <a:schemeClr val="accent1">
                    <a:lumMod val="60000"/>
                    <a:lumOff val="40000"/>
                  </a:schemeClr>
                </a:solidFill>
                <a:latin typeface="Arial Rounded MT Bold" panose="020F0704030504030204" pitchFamily="34" charset="0"/>
              </a:rPr>
              <a:t>德基广场是南京重要的文化地标，融合历史、艺术与现代商业，展现城市的文化活力。</a:t>
            </a:r>
          </a:p>
          <a:p>
            <a:pPr>
              <a:defRPr/>
            </a:pPr>
            <a:r>
              <a:rPr lang="en-IN" sz="2000" dirty="0">
                <a:solidFill>
                  <a:schemeClr val="accent1">
                    <a:lumMod val="60000"/>
                    <a:lumOff val="40000"/>
                  </a:schemeClr>
                </a:solidFill>
                <a:latin typeface="Arial Rounded MT Bold" panose="020F0704030504030204" pitchFamily="34" charset="0"/>
              </a:rPr>
              <a:t>南京作为中国四大古都之一，拥有丰富的历史遗迹和自然景观，如夫子庙秦淮风光带、钟山风景名胜区、玄武湖、牛首山文化旅游区等。</a:t>
            </a:r>
          </a:p>
          <a:p>
            <a:pPr>
              <a:defRPr/>
            </a:pPr>
            <a:r>
              <a:rPr lang="en-IN" sz="2000" dirty="0">
                <a:solidFill>
                  <a:schemeClr val="accent1">
                    <a:lumMod val="60000"/>
                    <a:lumOff val="40000"/>
                  </a:schemeClr>
                </a:solidFill>
                <a:latin typeface="Arial Rounded MT Bold" panose="020F0704030504030204" pitchFamily="34" charset="0"/>
              </a:rPr>
              <a:t>南京博物院馆藏丰富，是了解中华文明的重要窗口。</a:t>
            </a:r>
          </a:p>
          <a:p>
            <a:pPr>
              <a:defRPr/>
            </a:pPr>
            <a:r>
              <a:rPr lang="en-IN" sz="2000" dirty="0">
                <a:solidFill>
                  <a:schemeClr val="accent1">
                    <a:lumMod val="60000"/>
                    <a:lumOff val="40000"/>
                  </a:schemeClr>
                </a:solidFill>
                <a:latin typeface="Arial Rounded MT Bold" panose="020F0704030504030204" pitchFamily="34" charset="0"/>
              </a:rPr>
              <a:t>侵华日军南京大屠杀遇难同胞纪念馆承载着沉重的历史记忆，具有深远的教育意义。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6857D2C5-3427-48F5-B25E-1584B8E1DA66}"/>
              </a:ext>
            </a:extLst>
          </p:cNvPr>
          <p:cNvSpPr>
            <a:spLocks noGrp="1"/>
          </p:cNvSpPr>
          <p:nvPr>
            <p:ph type="title"/>
          </p:nvPr>
        </p:nvSpPr>
        <p:spPr/>
        <p:txBody>
          <a:bodyPr/>
          <a:lstStyle>
            <a:lvl1pPr>
              <a:defRPr/>
            </a:lvl1pPr>
          </a:lstStyle>
          <a:p>
            <a:endParaRPr lang="en-IN"/>
          </a:p>
        </p:txBody>
      </p:sp>
      <p:sp>
        <p:nvSpPr>
          <p:cNvPr id="3" name="Content Placeholder 2">
            <a:extLst>
              <a:ext uri="{FF2B5EF4-FFF2-40B4-BE49-F238E27FC236}">
                <a16:creationId xmlns:a16="http://schemas.microsoft.com/office/drawing/2014/main" id="{C56D53D6-44C2-4268-8003-070C992BB78A}"/>
              </a:ext>
            </a:extLst>
          </p:cNvPr>
          <p:cNvSpPr>
            <a:spLocks noGrp="1"/>
          </p:cNvSpPr>
          <p:nvPr>
            <p:ph idx="1"/>
          </p:nvPr>
        </p:nvSpPr>
        <p:spPr>
          <a:xfrm>
            <a:off x="4749449" y="276225"/>
            <a:ext cx="4723341" cy="6557963"/>
          </a:xfrm>
        </p:spPr>
        <p:txBody>
          <a:bodyPr>
            <a:normAutofit fontScale="92500" lnSpcReduction="10000"/>
          </a:bodyPr>
          <a:lstStyle>
            <a:lvl1pPr>
              <a:defRPr/>
            </a:lvl1pPr>
          </a:lstStyle>
          <a:p>
            <a:pPr algn="ctr">
              <a:defRPr/>
            </a:pPr>
            <a:r>
              <a:rPr lang="en-IN" sz="1900" dirty="0">
                <a:solidFill>
                  <a:schemeClr val="accent1">
                    <a:lumMod val="60000"/>
                    <a:lumOff val="40000"/>
                  </a:schemeClr>
                </a:solidFill>
              </a:rPr>
              <a:t>南京夫子庙秦淮风光带与钟山风景名胜区：文化与自然的交融</a:t>
            </a:r>
          </a:p>
          <a:p>
            <a:endParaRPr lang="en-IN" dirty="0"/>
          </a:p>
        </p:txBody>
      </p:sp>
      <p:pic>
        <p:nvPicPr>
          <p:cNvPr id="4" name="Picture 4" descr="add5a2f2ecc80f75815d014edd8d6f86f45825f7d8b999937b817d95a7cee8a2.jpg"/>
          <p:cNvPicPr>
            <a:picLocks noChangeAspect="1"/>
          </p:cNvPicPr>
          <p:nvPr/>
        </p:nvPicPr>
        <p:blipFill>
          <a:blip r:embed="rId2"/>
          <a:stretch>
            <a:fillRect/>
          </a:stretch>
        </p:blipFill>
        <p:spPr>
          <a:xfrm>
            <a:off x="349662" y="1539319"/>
            <a:ext cx="4597400" cy="342376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CDCB7AA3-FD29-466B-96D4-982514CF08F3}"/>
              </a:ext>
            </a:extLst>
          </p:cNvPr>
          <p:cNvSpPr>
            <a:spLocks noGrp="1"/>
          </p:cNvSpPr>
          <p:nvPr>
            <p:ph type="title"/>
          </p:nvPr>
        </p:nvSpPr>
        <p:spPr>
          <a:xfrm>
            <a:off x="677334" y="156237"/>
            <a:ext cx="8596668" cy="1320800"/>
          </a:xfrm>
        </p:spPr>
        <p:txBody>
          <a:bodyPr/>
          <a:lstStyle>
            <a:lvl1pPr>
              <a:defRPr/>
            </a:lvl1pPr>
          </a:lstStyle>
          <a:p>
            <a:pPr>
              <a:defRPr/>
            </a:pPr>
            <a:r>
              <a:rPr lang="en-IN" dirty="0"/>
              <a:t>文化与历史亮点</a:t>
            </a:r>
          </a:p>
        </p:txBody>
      </p:sp>
      <p:sp>
        <p:nvSpPr>
          <p:cNvPr id="3" name="Content Placeholder 2">
            <a:extLst>
              <a:ext uri="{FF2B5EF4-FFF2-40B4-BE49-F238E27FC236}">
                <a16:creationId xmlns:a16="http://schemas.microsoft.com/office/drawing/2014/main" id="{C4C7C2B0-A19F-4C53-8E70-945E0E07BDD7}"/>
              </a:ext>
            </a:extLst>
          </p:cNvPr>
          <p:cNvSpPr>
            <a:spLocks noGrp="1"/>
          </p:cNvSpPr>
          <p:nvPr>
            <p:ph idx="1"/>
          </p:nvPr>
        </p:nvSpPr>
        <p:spPr>
          <a:xfrm>
            <a:off x="677334" y="1245871"/>
            <a:ext cx="8596668" cy="4795492"/>
          </a:xfrm>
        </p:spPr>
        <p:txBody>
          <a:bodyPr>
            <a:normAutofit/>
          </a:bodyPr>
          <a:lstStyle>
            <a:lvl1pPr>
              <a:defRPr/>
            </a:lvl1pPr>
          </a:lstStyle>
          <a:p>
            <a:pPr marL="0" indent="0">
              <a:buNone/>
              <a:defRPr/>
            </a:pPr>
            <a:r>
              <a:rPr lang="en-IN" sz="2000" dirty="0">
                <a:solidFill>
                  <a:schemeClr val="accent1">
                    <a:lumMod val="60000"/>
                    <a:lumOff val="40000"/>
                  </a:schemeClr>
                </a:solidFill>
                <a:latin typeface="Arial Rounded MT Bold" panose="020F0704030504030204" pitchFamily="34" charset="0"/>
              </a:rPr>
              <a:t>南京博物院馆藏丰富，是了解中国历史与艺术的重要窗口。</a:t>
            </a:r>
          </a:p>
          <a:p>
            <a:pPr>
              <a:defRPr/>
            </a:pPr>
            <a:r>
              <a:rPr lang="en-IN" sz="2000" dirty="0">
                <a:solidFill>
                  <a:schemeClr val="accent1">
                    <a:lumMod val="60000"/>
                    <a:lumOff val="40000"/>
                  </a:schemeClr>
                </a:solidFill>
                <a:latin typeface="Arial Rounded MT Bold" panose="020F0704030504030204" pitchFamily="34" charset="0"/>
              </a:rPr>
              <a:t>侵华日军南京大屠杀遇难同胞纪念馆具有重要教育意义，铭记历史，珍爱和平。</a:t>
            </a:r>
          </a:p>
          <a:p>
            <a:pPr>
              <a:defRPr/>
            </a:pPr>
            <a:r>
              <a:rPr lang="en-IN" sz="2000" dirty="0">
                <a:solidFill>
                  <a:schemeClr val="accent1">
                    <a:lumMod val="60000"/>
                    <a:lumOff val="40000"/>
                  </a:schemeClr>
                </a:solidFill>
                <a:latin typeface="Arial Rounded MT Bold" panose="020F0704030504030204" pitchFamily="34" charset="0"/>
              </a:rPr>
              <a:t>夫子庙—秦淮风光带展现江南韵味，是体验南京传统文化的绝佳去处。</a:t>
            </a:r>
          </a:p>
          <a:p>
            <a:pPr>
              <a:defRPr/>
            </a:pPr>
            <a:r>
              <a:rPr lang="en-IN" sz="2000" dirty="0">
                <a:solidFill>
                  <a:schemeClr val="accent1">
                    <a:lumMod val="60000"/>
                    <a:lumOff val="40000"/>
                  </a:schemeClr>
                </a:solidFill>
                <a:latin typeface="Arial Rounded MT Bold" panose="020F0704030504030204" pitchFamily="34" charset="0"/>
              </a:rPr>
              <a:t>钟山风景名胜区包括中山陵、明孝陵等世界文化遗产，体现深厚历史底蕴。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6857D2C5-3427-48F5-B25E-1584B8E1DA66}"/>
              </a:ext>
            </a:extLst>
          </p:cNvPr>
          <p:cNvSpPr>
            <a:spLocks noGrp="1"/>
          </p:cNvSpPr>
          <p:nvPr>
            <p:ph type="title"/>
          </p:nvPr>
        </p:nvSpPr>
        <p:spPr/>
        <p:txBody>
          <a:bodyPr/>
          <a:lstStyle>
            <a:lvl1pPr>
              <a:defRPr/>
            </a:lvl1pPr>
          </a:lstStyle>
          <a:p>
            <a:endParaRPr lang="en-IN"/>
          </a:p>
        </p:txBody>
      </p:sp>
      <p:sp>
        <p:nvSpPr>
          <p:cNvPr id="3" name="Content Placeholder 2">
            <a:extLst>
              <a:ext uri="{FF2B5EF4-FFF2-40B4-BE49-F238E27FC236}">
                <a16:creationId xmlns:a16="http://schemas.microsoft.com/office/drawing/2014/main" id="{C56D53D6-44C2-4268-8003-070C992BB78A}"/>
              </a:ext>
            </a:extLst>
          </p:cNvPr>
          <p:cNvSpPr>
            <a:spLocks noGrp="1"/>
          </p:cNvSpPr>
          <p:nvPr>
            <p:ph idx="1"/>
          </p:nvPr>
        </p:nvSpPr>
        <p:spPr>
          <a:xfrm>
            <a:off x="4749449" y="276225"/>
            <a:ext cx="4723341" cy="6557963"/>
          </a:xfrm>
        </p:spPr>
        <p:txBody>
          <a:bodyPr>
            <a:normAutofit fontScale="92500" lnSpcReduction="10000"/>
          </a:bodyPr>
          <a:lstStyle>
            <a:lvl1pPr>
              <a:defRPr/>
            </a:lvl1pPr>
          </a:lstStyle>
          <a:p>
            <a:pPr algn="ctr">
              <a:defRPr/>
            </a:pPr>
            <a:r>
              <a:rPr lang="en-IN" sz="1900" dirty="0">
                <a:solidFill>
                  <a:schemeClr val="accent1">
                    <a:lumMod val="60000"/>
                    <a:lumOff val="40000"/>
                  </a:schemeClr>
                </a:solidFill>
              </a:rPr>
              <a:t>南京博物院与南京大屠杀遇难同胞纪念馆：铭记历史，传承文明</a:t>
            </a:r>
          </a:p>
          <a:p>
            <a:endParaRPr lang="en-IN" dirty="0"/>
          </a:p>
        </p:txBody>
      </p:sp>
      <p:pic>
        <p:nvPicPr>
          <p:cNvPr id="4" name="Picture 4" descr="add5a2f2ecc80f75815d014edd8d6f86f45825f7d8b999937b817d95a7cee8a2.jpg"/>
          <p:cNvPicPr>
            <a:picLocks noChangeAspect="1"/>
          </p:cNvPicPr>
          <p:nvPr/>
        </p:nvPicPr>
        <p:blipFill>
          <a:blip r:embed="rId2"/>
          <a:stretch>
            <a:fillRect/>
          </a:stretch>
        </p:blipFill>
        <p:spPr>
          <a:xfrm>
            <a:off x="349662" y="1539319"/>
            <a:ext cx="4597400" cy="342376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CDCB7AA3-FD29-466B-96D4-982514CF08F3}"/>
              </a:ext>
            </a:extLst>
          </p:cNvPr>
          <p:cNvSpPr>
            <a:spLocks noGrp="1"/>
          </p:cNvSpPr>
          <p:nvPr>
            <p:ph type="title"/>
          </p:nvPr>
        </p:nvSpPr>
        <p:spPr>
          <a:xfrm>
            <a:off x="677334" y="156237"/>
            <a:ext cx="8596668" cy="1320800"/>
          </a:xfrm>
        </p:spPr>
        <p:txBody>
          <a:bodyPr/>
          <a:lstStyle>
            <a:lvl1pPr>
              <a:defRPr/>
            </a:lvl1pPr>
          </a:lstStyle>
          <a:p>
            <a:pPr>
              <a:defRPr/>
            </a:pPr>
            <a:r>
              <a:rPr lang="en-IN" dirty="0"/>
              <a:t>Scenic Attractions</a:t>
            </a:r>
          </a:p>
        </p:txBody>
      </p:sp>
      <p:sp>
        <p:nvSpPr>
          <p:cNvPr id="3" name="Content Placeholder 2">
            <a:extLst>
              <a:ext uri="{FF2B5EF4-FFF2-40B4-BE49-F238E27FC236}">
                <a16:creationId xmlns:a16="http://schemas.microsoft.com/office/drawing/2014/main" id="{C4C7C2B0-A19F-4C53-8E70-945E0E07BDD7}"/>
              </a:ext>
            </a:extLst>
          </p:cNvPr>
          <p:cNvSpPr>
            <a:spLocks noGrp="1"/>
          </p:cNvSpPr>
          <p:nvPr>
            <p:ph idx="1"/>
          </p:nvPr>
        </p:nvSpPr>
        <p:spPr>
          <a:xfrm>
            <a:off x="677334" y="1245871"/>
            <a:ext cx="8596668" cy="4795492"/>
          </a:xfrm>
        </p:spPr>
        <p:txBody>
          <a:bodyPr>
            <a:normAutofit/>
          </a:bodyPr>
          <a:lstStyle>
            <a:lvl1pPr>
              <a:defRPr/>
            </a:lvl1pPr>
          </a:lstStyle>
          <a:p>
            <a:pPr marL="0" indent="0">
              <a:buNone/>
              <a:defRPr/>
            </a:pPr>
            <a:r>
              <a:rPr lang="en-IN" sz="2000" dirty="0">
                <a:solidFill>
                  <a:schemeClr val="accent1">
                    <a:lumMod val="60000"/>
                    <a:lumOff val="40000"/>
                  </a:schemeClr>
                </a:solidFill>
                <a:latin typeface="Arial Rounded MT Bold" panose="020F0704030504030204" pitchFamily="34" charset="0"/>
              </a:rPr>
              <a:t>玄武湖是江南最大的城内公园，湖光山色相映成趣，是市民休闲与游客观光的理想之地。</a:t>
            </a:r>
          </a:p>
          <a:p>
            <a:pPr>
              <a:defRPr/>
            </a:pPr>
            <a:r>
              <a:rPr lang="en-IN" sz="2000" dirty="0">
                <a:solidFill>
                  <a:schemeClr val="accent1">
                    <a:lumMod val="60000"/>
                    <a:lumOff val="40000"/>
                  </a:schemeClr>
                </a:solidFill>
                <a:latin typeface="Arial Rounded MT Bold" panose="020F0704030504030204" pitchFamily="34" charset="0"/>
              </a:rPr>
              <a:t>牛首山文化旅游区以佛教文化为核心，融合自然景观与人文历史，展现独特的宗教与艺术魅力。</a:t>
            </a:r>
          </a:p>
          <a:p>
            <a:pPr>
              <a:defRPr/>
            </a:pPr>
            <a:r>
              <a:rPr lang="en-IN" sz="2000" dirty="0">
                <a:solidFill>
                  <a:schemeClr val="accent1">
                    <a:lumMod val="60000"/>
                    <a:lumOff val="40000"/>
                  </a:schemeClr>
                </a:solidFill>
                <a:latin typeface="Arial Rounded MT Bold" panose="020F0704030504030204" pitchFamily="34" charset="0"/>
              </a:rPr>
              <a:t>夫子庙—秦淮风光带以古典建筑与水乡风情闻名，是体验江南文化韵味的代表性区域。</a:t>
            </a:r>
          </a:p>
          <a:p>
            <a:pPr>
              <a:defRPr/>
            </a:pPr>
            <a:r>
              <a:rPr lang="en-IN" sz="2000" dirty="0">
                <a:solidFill>
                  <a:schemeClr val="accent1">
                    <a:lumMod val="60000"/>
                    <a:lumOff val="40000"/>
                  </a:schemeClr>
                </a:solidFill>
                <a:latin typeface="Arial Rounded MT Bold" panose="020F0704030504030204" pitchFamily="34" charset="0"/>
              </a:rPr>
              <a:t>钟山风景名胜区包括中山陵、明孝陵等世界文化遗产，是南京历史文化的重要象征。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6857D2C5-3427-48F5-B25E-1584B8E1DA66}"/>
              </a:ext>
            </a:extLst>
          </p:cNvPr>
          <p:cNvSpPr>
            <a:spLocks noGrp="1"/>
          </p:cNvSpPr>
          <p:nvPr>
            <p:ph type="title"/>
          </p:nvPr>
        </p:nvSpPr>
        <p:spPr/>
        <p:txBody>
          <a:bodyPr/>
          <a:lstStyle>
            <a:lvl1pPr>
              <a:defRPr/>
            </a:lvl1pPr>
          </a:lstStyle>
          <a:p>
            <a:endParaRPr lang="en-IN"/>
          </a:p>
        </p:txBody>
      </p:sp>
      <p:sp>
        <p:nvSpPr>
          <p:cNvPr id="3" name="Content Placeholder 2">
            <a:extLst>
              <a:ext uri="{FF2B5EF4-FFF2-40B4-BE49-F238E27FC236}">
                <a16:creationId xmlns:a16="http://schemas.microsoft.com/office/drawing/2014/main" id="{C56D53D6-44C2-4268-8003-070C992BB78A}"/>
              </a:ext>
            </a:extLst>
          </p:cNvPr>
          <p:cNvSpPr>
            <a:spLocks noGrp="1"/>
          </p:cNvSpPr>
          <p:nvPr>
            <p:ph idx="1"/>
          </p:nvPr>
        </p:nvSpPr>
        <p:spPr>
          <a:xfrm>
            <a:off x="4749449" y="276225"/>
            <a:ext cx="4723341" cy="6557963"/>
          </a:xfrm>
        </p:spPr>
        <p:txBody>
          <a:bodyPr>
            <a:normAutofit fontScale="92500" lnSpcReduction="10000"/>
          </a:bodyPr>
          <a:lstStyle>
            <a:lvl1pPr>
              <a:defRPr/>
            </a:lvl1pPr>
          </a:lstStyle>
          <a:p>
            <a:pPr algn="ctr">
              <a:defRPr/>
            </a:pPr>
            <a:r>
              <a:rPr lang="en-IN" sz="1900" dirty="0">
                <a:solidFill>
                  <a:schemeClr val="accent1">
                    <a:lumMod val="60000"/>
                    <a:lumOff val="40000"/>
                  </a:schemeClr>
                </a:solidFill>
              </a:rPr>
              <a:t>玄武湖与牛首山：自然与文化的交融</a:t>
            </a:r>
          </a:p>
          <a:p>
            <a:endParaRPr lang="en-IN" dirty="0"/>
          </a:p>
        </p:txBody>
      </p:sp>
      <p:pic>
        <p:nvPicPr>
          <p:cNvPr id="4" name="Picture 4" descr="add5a2f2ecc80f75815d014edd8d6f86f45825f7d8b999937b817d95a7cee8a2.jpg"/>
          <p:cNvPicPr>
            <a:picLocks noChangeAspect="1"/>
          </p:cNvPicPr>
          <p:nvPr/>
        </p:nvPicPr>
        <p:blipFill>
          <a:blip r:embed="rId2"/>
          <a:stretch>
            <a:fillRect/>
          </a:stretch>
        </p:blipFill>
        <p:spPr>
          <a:xfrm>
            <a:off x="349662" y="1539319"/>
            <a:ext cx="4597400" cy="342376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681FCB56-235C-408C-9DC7-10D03944A3A5}"/>
              </a:ext>
            </a:extLst>
          </p:cNvPr>
          <p:cNvSpPr>
            <a:spLocks noGrp="1"/>
          </p:cNvSpPr>
          <p:nvPr>
            <p:ph type="title"/>
          </p:nvPr>
        </p:nvSpPr>
        <p:spPr>
          <a:xfrm>
            <a:off x="677334" y="142875"/>
            <a:ext cx="8596668" cy="1320800"/>
          </a:xfrm>
        </p:spPr>
        <p:txBody>
          <a:bodyPr/>
          <a:lstStyle>
            <a:lvl1pPr>
              <a:defRPr/>
            </a:lvl1pPr>
          </a:lstStyle>
          <a:p>
            <a:pPr>
              <a:defRPr/>
            </a:pPr>
            <a:r>
              <a:rPr lang="en-IN" dirty="0"/>
              <a:t>谢谢</a:t>
            </a:r>
          </a:p>
        </p:txBody>
      </p:sp>
      <p:sp>
        <p:nvSpPr>
          <p:cNvPr id="3" name="Content Placeholder 2">
            <a:extLst>
              <a:ext uri="{FF2B5EF4-FFF2-40B4-BE49-F238E27FC236}">
                <a16:creationId xmlns:a16="http://schemas.microsoft.com/office/drawing/2014/main" id="{D26B22D8-88E4-4422-838D-71DFE6BB6D81}"/>
              </a:ext>
            </a:extLst>
          </p:cNvPr>
          <p:cNvSpPr>
            <a:spLocks noGrp="1"/>
          </p:cNvSpPr>
          <p:nvPr>
            <p:ph idx="1"/>
          </p:nvPr>
        </p:nvSpPr>
        <p:spPr>
          <a:xfrm>
            <a:off x="677334" y="1346201"/>
            <a:ext cx="8596668" cy="5368923"/>
          </a:xfrm>
        </p:spPr>
        <p:txBody>
          <a:bodyPr>
            <a:noAutofit/>
          </a:bodyPr>
          <a:lstStyle>
            <a:lvl1pPr>
              <a:defRPr/>
            </a:lvl1pPr>
          </a:lstStyle>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155</TotalTime>
  <Words>1742</Words>
  <Application>Microsoft Office PowerPoint</Application>
  <PresentationFormat>Widescreen</PresentationFormat>
  <Paragraphs>50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Rounded MT Bold</vt:lpstr>
      <vt:lpstr>Trebuchet MS</vt:lpstr>
      <vt:lpstr>Wingdings 3</vt:lpstr>
      <vt:lpstr>Facet</vt:lpstr>
      <vt:lpstr>Tourism &amp; Culture:</vt:lpstr>
      <vt:lpstr>What is culture?</vt:lpstr>
      <vt:lpstr>What is Tourism?</vt:lpstr>
      <vt:lpstr>What do we mean by Cultural Tourism?</vt:lpstr>
      <vt:lpstr>Bhubaneswar – The Temple City of India</vt:lpstr>
      <vt:lpstr>The Tangible – The Hindu Temple</vt:lpstr>
      <vt:lpstr>PowerPoint Presentation</vt:lpstr>
      <vt:lpstr>The Mukteswara Temple – Early Orissan style</vt:lpstr>
      <vt:lpstr>The Lingaraj Temple – Later Orissan Style (Pancharatha plan)</vt:lpstr>
      <vt:lpstr>The Intangible – Indian Classical Dance ODISSI of ODISHA</vt:lpstr>
      <vt:lpstr>PowerPoint Presentation</vt:lpstr>
      <vt:lpstr>The Connecting Link</vt:lpstr>
      <vt:lpstr>The practice of Indian classical dance, like meditation, tames and purifies the external Sthula-Sharira (the body composed of fluid, with humours and saps, as also of the bones, muscles and vital vulnerable junctures) as it quiets and balances the body’s three humours (tridosha, tridhaatu) – wind (vata), phlegm (kapha) and fire (pitta). Eventually the dancer should begin to discover the Suksma Sharira (the subtle, metaphysical interior body) within her which articulates the psycho-spiritual experiences similar to those of the yogi and the pilgrim or devotee visiting the temple. This subtle body, most often identified with Kundalini Yoga, is defined by one of the many scholars as “ an invisible mandala formed by a combination of symbolic (but also very real) geometric figures” and often depicted as a microcosm of the universe, with the Shiva Samhita noting, “All the beings that exist in the three worlds are also to be found in the subtle body”. Rightly, it is called the seat of the Atma or soul.  And the discovery of this subtle body is made possible by the awakening of the vital Kundalini energy within the dancer’s body through the practise and performance of the Odissi repertoire wherein the dancer begins with Mangalacharan, an invocation at the entrance to the temple, proceeds to circumambulate the temple structure depicting the exquisite physical beauty of the numerous postures in various bhangi-s sculpted on the temple walls through Batu, then advancing through the Natya Mandapa with the joyous Pallavi, enters the Garbha griha with the self-reflective Abhinaya, an Ashatapadi wherein she is in private conversation with her Lord, finally leading to Moshya Nata, the dance of liberation. Thus, the repertoire leads the dancer from collective external consciousness to singular internal consciousness such that in Mokshya Nata a moment of absolute peace and stillness is reached when the dancer is in total union while in movement with her Atma or soul within.  </vt:lpstr>
      <vt:lpstr>ODISSI DANCER – A Global Ambassador of cultural heritage of Odisha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Tourism &amp; Culture</dc:title>
  <dc:creator>Ayona Bhaduri</dc:creator>
  <cp:lastModifiedBy>Ayona Bhaduri</cp:lastModifiedBy>
  <cp:revision>17</cp:revision>
  <dcterms:created xsi:type="dcterms:W3CDTF">2018-03-15T13:52:44Z</dcterms:created>
  <dcterms:modified xsi:type="dcterms:W3CDTF">2018-03-16T15:38:16Z</dcterms:modified>
</cp:coreProperties>
</file>